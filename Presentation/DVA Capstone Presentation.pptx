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grandir Bold" charset="1" panose="00000800000000000000"/>
      <p:regular r:id="rId18"/>
    </p:embeddedFont>
    <p:embeddedFont>
      <p:font typeface="Agrandir" charset="1" panose="00000500000000000000"/>
      <p:regular r:id="rId19"/>
    </p:embeddedFont>
    <p:embeddedFont>
      <p:font typeface="Agrandir Narrow" charset="1" panose="00000506000000000000"/>
      <p:regular r:id="rId20"/>
    </p:embeddedFont>
    <p:embeddedFont>
      <p:font typeface="Agrandir Narrow Italics" charset="1" panose="00000506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005" y="332907"/>
            <a:ext cx="9538504" cy="9519196"/>
          </a:xfrm>
          <a:custGeom>
            <a:avLst/>
            <a:gdLst/>
            <a:ahLst/>
            <a:cxnLst/>
            <a:rect r="r" b="b" t="t" l="l"/>
            <a:pathLst>
              <a:path h="9519196" w="9538504">
                <a:moveTo>
                  <a:pt x="0" y="0"/>
                </a:moveTo>
                <a:lnTo>
                  <a:pt x="9538505" y="0"/>
                </a:lnTo>
                <a:lnTo>
                  <a:pt x="9538505" y="9519196"/>
                </a:lnTo>
                <a:lnTo>
                  <a:pt x="0" y="9519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39441">
            <a:off x="10427660" y="2373885"/>
            <a:ext cx="13046355" cy="8282541"/>
          </a:xfrm>
          <a:custGeom>
            <a:avLst/>
            <a:gdLst/>
            <a:ahLst/>
            <a:cxnLst/>
            <a:rect r="r" b="b" t="t" l="l"/>
            <a:pathLst>
              <a:path h="8282541" w="13046355">
                <a:moveTo>
                  <a:pt x="0" y="0"/>
                </a:moveTo>
                <a:lnTo>
                  <a:pt x="13046354" y="0"/>
                </a:lnTo>
                <a:lnTo>
                  <a:pt x="13046354" y="8282541"/>
                </a:lnTo>
                <a:lnTo>
                  <a:pt x="0" y="8282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57022" y="0"/>
            <a:ext cx="2830978" cy="1853004"/>
          </a:xfrm>
          <a:custGeom>
            <a:avLst/>
            <a:gdLst/>
            <a:ahLst/>
            <a:cxnLst/>
            <a:rect r="r" b="b" t="t" l="l"/>
            <a:pathLst>
              <a:path h="1853004" w="2830978">
                <a:moveTo>
                  <a:pt x="0" y="0"/>
                </a:moveTo>
                <a:lnTo>
                  <a:pt x="2830978" y="0"/>
                </a:lnTo>
                <a:lnTo>
                  <a:pt x="2830978" y="1853004"/>
                </a:lnTo>
                <a:lnTo>
                  <a:pt x="0" y="1853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38766" y="1137769"/>
            <a:ext cx="3560221" cy="1430470"/>
          </a:xfrm>
          <a:custGeom>
            <a:avLst/>
            <a:gdLst/>
            <a:ahLst/>
            <a:cxnLst/>
            <a:rect r="r" b="b" t="t" l="l"/>
            <a:pathLst>
              <a:path h="1430470" w="3560221">
                <a:moveTo>
                  <a:pt x="0" y="0"/>
                </a:moveTo>
                <a:lnTo>
                  <a:pt x="3560222" y="0"/>
                </a:lnTo>
                <a:lnTo>
                  <a:pt x="3560222" y="1430470"/>
                </a:lnTo>
                <a:lnTo>
                  <a:pt x="0" y="14304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646" t="0" r="-2451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86769" y="2828620"/>
            <a:ext cx="7940976" cy="134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8"/>
              </a:lnSpc>
            </a:pPr>
            <a:r>
              <a:rPr lang="en-US" sz="4484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Unlocking Revenue Potential in the Airbnb Marketplace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4187" y="4149513"/>
            <a:ext cx="8646142" cy="510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286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Airbnb Revenue Optimization &amp; Performance Analytics</a:t>
            </a:r>
          </a:p>
          <a:p>
            <a:pPr algn="ctr">
              <a:lnSpc>
                <a:spcPts val="4013"/>
              </a:lnSpc>
            </a:pPr>
          </a:p>
          <a:p>
            <a:pPr algn="l">
              <a:lnSpc>
                <a:spcPts val="4013"/>
              </a:lnSpc>
            </a:pPr>
            <a:r>
              <a:rPr lang="en-US" sz="286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Sector: </a:t>
            </a:r>
            <a:r>
              <a:rPr lang="en-US" sz="2866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Short-Term Rental Marketplace</a:t>
            </a:r>
          </a:p>
          <a:p>
            <a:pPr algn="l">
              <a:lnSpc>
                <a:spcPts val="4013"/>
              </a:lnSpc>
            </a:pPr>
          </a:p>
          <a:p>
            <a:pPr algn="l">
              <a:lnSpc>
                <a:spcPts val="4013"/>
              </a:lnSpc>
            </a:pPr>
            <a:r>
              <a:rPr lang="en-US" sz="286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Team Members:Vaibhav Singh, Avneet Singh,</a:t>
            </a:r>
          </a:p>
          <a:p>
            <a:pPr algn="l">
              <a:lnSpc>
                <a:spcPts val="4013"/>
              </a:lnSpc>
            </a:pPr>
            <a:r>
              <a:rPr lang="en-US" sz="286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Alisha Gupta, Soumya Tiwari, Dhruv Kumar, Kushagra Bharadwaj.</a:t>
            </a:r>
          </a:p>
          <a:p>
            <a:pPr algn="l">
              <a:lnSpc>
                <a:spcPts val="4013"/>
              </a:lnSpc>
            </a:pPr>
          </a:p>
          <a:p>
            <a:pPr algn="l">
              <a:lnSpc>
                <a:spcPts val="4013"/>
              </a:lnSpc>
            </a:pPr>
            <a:r>
              <a:rPr lang="en-US" sz="2866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Faculty Name: Ayushi Vashishth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0188" y="933900"/>
            <a:ext cx="16230600" cy="8216312"/>
            <a:chOff x="0" y="0"/>
            <a:chExt cx="4274726" cy="21639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967"/>
            </a:xfrm>
            <a:custGeom>
              <a:avLst/>
              <a:gdLst/>
              <a:ahLst/>
              <a:cxnLst/>
              <a:rect r="r" b="b" t="t" l="l"/>
              <a:pathLst>
                <a:path h="21639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1071"/>
                  </a:lnTo>
                  <a:cubicBezTo>
                    <a:pt x="4274726" y="2147144"/>
                    <a:pt x="4272314" y="2152967"/>
                    <a:pt x="4268020" y="2157261"/>
                  </a:cubicBezTo>
                  <a:cubicBezTo>
                    <a:pt x="4263726" y="2161555"/>
                    <a:pt x="4257903" y="2163967"/>
                    <a:pt x="4251830" y="2163967"/>
                  </a:cubicBezTo>
                  <a:lnTo>
                    <a:pt x="22896" y="2163967"/>
                  </a:lnTo>
                  <a:cubicBezTo>
                    <a:pt x="16823" y="2163967"/>
                    <a:pt x="11000" y="2161555"/>
                    <a:pt x="6706" y="2157261"/>
                  </a:cubicBezTo>
                  <a:cubicBezTo>
                    <a:pt x="2412" y="2152967"/>
                    <a:pt x="0" y="2147144"/>
                    <a:pt x="0" y="21410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274726" cy="2230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05215" y="0"/>
            <a:ext cx="2682785" cy="1756005"/>
          </a:xfrm>
          <a:custGeom>
            <a:avLst/>
            <a:gdLst/>
            <a:ahLst/>
            <a:cxnLst/>
            <a:rect r="r" b="b" t="t" l="l"/>
            <a:pathLst>
              <a:path h="1756005" w="2682785">
                <a:moveTo>
                  <a:pt x="0" y="0"/>
                </a:moveTo>
                <a:lnTo>
                  <a:pt x="2682785" y="0"/>
                </a:lnTo>
                <a:lnTo>
                  <a:pt x="2682785" y="1756005"/>
                </a:lnTo>
                <a:lnTo>
                  <a:pt x="0" y="1756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0669">
            <a:off x="79162" y="7296141"/>
            <a:ext cx="2159625" cy="3514182"/>
          </a:xfrm>
          <a:custGeom>
            <a:avLst/>
            <a:gdLst/>
            <a:ahLst/>
            <a:cxnLst/>
            <a:rect r="r" b="b" t="t" l="l"/>
            <a:pathLst>
              <a:path h="3514182" w="2159625">
                <a:moveTo>
                  <a:pt x="0" y="0"/>
                </a:moveTo>
                <a:lnTo>
                  <a:pt x="2159625" y="0"/>
                </a:lnTo>
                <a:lnTo>
                  <a:pt x="2159625" y="3514182"/>
                </a:lnTo>
                <a:lnTo>
                  <a:pt x="0" y="3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2062300"/>
            <a:ext cx="5749393" cy="5613498"/>
          </a:xfrm>
          <a:custGeom>
            <a:avLst/>
            <a:gdLst/>
            <a:ahLst/>
            <a:cxnLst/>
            <a:rect r="r" b="b" t="t" l="l"/>
            <a:pathLst>
              <a:path h="5613498" w="5749393">
                <a:moveTo>
                  <a:pt x="0" y="0"/>
                </a:moveTo>
                <a:lnTo>
                  <a:pt x="5749393" y="0"/>
                </a:lnTo>
                <a:lnTo>
                  <a:pt x="5749393" y="5613498"/>
                </a:lnTo>
                <a:lnTo>
                  <a:pt x="0" y="56134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55445" y="1315343"/>
            <a:ext cx="9389486" cy="1714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1"/>
              </a:lnSpc>
            </a:pPr>
            <a:r>
              <a:rPr lang="en-US" sz="5971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Not all listings perform equally — why?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65956" y="3266661"/>
            <a:ext cx="7252087" cy="160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5880" indent="-237940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Competitive short-term rental market</a:t>
            </a:r>
          </a:p>
          <a:p>
            <a:pPr algn="just" marL="475880" indent="-237940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Revenue varies by location &amp; pricing</a:t>
            </a:r>
          </a:p>
          <a:p>
            <a:pPr algn="just" marL="475880" indent="-237940" lvl="1">
              <a:lnSpc>
                <a:spcPts val="3085"/>
              </a:lnSpc>
              <a:buFont typeface="Arial"/>
              <a:buChar char="•"/>
            </a:pPr>
            <a:r>
              <a:rPr lang="en-US" sz="220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Hosts face occupancy inefficiencies</a:t>
            </a:r>
          </a:p>
          <a:p>
            <a:pPr algn="just">
              <a:lnSpc>
                <a:spcPts val="308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139068" y="4908706"/>
            <a:ext cx="9305863" cy="319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4"/>
              </a:lnSpc>
            </a:pPr>
            <a:r>
              <a:rPr lang="en-US" sz="2953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 Statement:</a:t>
            </a:r>
          </a:p>
          <a:p>
            <a:pPr algn="ctr">
              <a:lnSpc>
                <a:spcPts val="4134"/>
              </a:lnSpc>
            </a:pPr>
            <a:r>
              <a:rPr lang="en-US" sz="2953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Which neighbourhoods, room types, and pricing strategies maximize revenue and occupancy while maintaining ratings?</a:t>
            </a:r>
          </a:p>
          <a:p>
            <a:pPr algn="ctr">
              <a:lnSpc>
                <a:spcPts val="4134"/>
              </a:lnSpc>
            </a:pPr>
          </a:p>
          <a:p>
            <a:pPr algn="ctr">
              <a:lnSpc>
                <a:spcPts val="413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609956" y="6798792"/>
            <a:ext cx="7808087" cy="247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</a:p>
          <a:p>
            <a:pPr algn="ctr">
              <a:lnSpc>
                <a:spcPts val="3874"/>
              </a:lnSpc>
            </a:pPr>
            <a:r>
              <a:rPr lang="en-US" sz="2767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Objective: </a:t>
            </a:r>
            <a:r>
              <a:rPr lang="en-US" sz="2767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Enable data-driven hosting decisions.</a:t>
            </a:r>
          </a:p>
          <a:p>
            <a:pPr algn="ctr">
              <a:lnSpc>
                <a:spcPts val="3874"/>
              </a:lnSpc>
            </a:pPr>
            <a:r>
              <a:rPr lang="en-US" sz="2767">
                <a:solidFill>
                  <a:srgbClr val="000000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Primary decision-makers: Airbnb hosts and property investors.</a:t>
            </a:r>
          </a:p>
          <a:p>
            <a:pPr algn="ctr">
              <a:lnSpc>
                <a:spcPts val="38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50669">
            <a:off x="79162" y="7296141"/>
            <a:ext cx="2159625" cy="3514182"/>
          </a:xfrm>
          <a:custGeom>
            <a:avLst/>
            <a:gdLst/>
            <a:ahLst/>
            <a:cxnLst/>
            <a:rect r="r" b="b" t="t" l="l"/>
            <a:pathLst>
              <a:path h="3514182" w="2159625">
                <a:moveTo>
                  <a:pt x="0" y="0"/>
                </a:moveTo>
                <a:lnTo>
                  <a:pt x="2159625" y="0"/>
                </a:lnTo>
                <a:lnTo>
                  <a:pt x="2159625" y="3514182"/>
                </a:lnTo>
                <a:lnTo>
                  <a:pt x="0" y="3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61582" y="1188264"/>
            <a:ext cx="16230600" cy="8364862"/>
            <a:chOff x="0" y="0"/>
            <a:chExt cx="4274726" cy="22030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203091"/>
            </a:xfrm>
            <a:custGeom>
              <a:avLst/>
              <a:gdLst/>
              <a:ahLst/>
              <a:cxnLst/>
              <a:rect r="r" b="b" t="t" l="l"/>
              <a:pathLst>
                <a:path h="2203091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80195"/>
                  </a:lnTo>
                  <a:cubicBezTo>
                    <a:pt x="4274726" y="2186268"/>
                    <a:pt x="4272314" y="2192091"/>
                    <a:pt x="4268020" y="2196385"/>
                  </a:cubicBezTo>
                  <a:cubicBezTo>
                    <a:pt x="4263726" y="2200679"/>
                    <a:pt x="4257903" y="2203091"/>
                    <a:pt x="4251830" y="2203091"/>
                  </a:cubicBezTo>
                  <a:lnTo>
                    <a:pt x="22896" y="2203091"/>
                  </a:lnTo>
                  <a:cubicBezTo>
                    <a:pt x="16823" y="2203091"/>
                    <a:pt x="11000" y="2200679"/>
                    <a:pt x="6706" y="2196385"/>
                  </a:cubicBezTo>
                  <a:cubicBezTo>
                    <a:pt x="2412" y="2192091"/>
                    <a:pt x="0" y="2186268"/>
                    <a:pt x="0" y="2180195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4274726" cy="2326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168842" y="0"/>
            <a:ext cx="2119158" cy="1387085"/>
          </a:xfrm>
          <a:custGeom>
            <a:avLst/>
            <a:gdLst/>
            <a:ahLst/>
            <a:cxnLst/>
            <a:rect r="r" b="b" t="t" l="l"/>
            <a:pathLst>
              <a:path h="1387085" w="2119158">
                <a:moveTo>
                  <a:pt x="0" y="0"/>
                </a:moveTo>
                <a:lnTo>
                  <a:pt x="2119158" y="0"/>
                </a:lnTo>
                <a:lnTo>
                  <a:pt x="2119158" y="1387085"/>
                </a:lnTo>
                <a:lnTo>
                  <a:pt x="0" y="1387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65522" y="3092744"/>
            <a:ext cx="3703320" cy="4114800"/>
          </a:xfrm>
          <a:custGeom>
            <a:avLst/>
            <a:gdLst/>
            <a:ahLst/>
            <a:cxnLst/>
            <a:rect r="r" b="b" t="t" l="l"/>
            <a:pathLst>
              <a:path h="4114800" w="3703320">
                <a:moveTo>
                  <a:pt x="0" y="0"/>
                </a:moveTo>
                <a:lnTo>
                  <a:pt x="3703320" y="0"/>
                </a:lnTo>
                <a:lnTo>
                  <a:pt x="3703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18649" y="1232039"/>
            <a:ext cx="13450702" cy="159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9"/>
              </a:lnSpc>
            </a:pPr>
            <a:r>
              <a:rPr lang="en-US" sz="5163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From Raw Listings to Business Intelligence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68531" y="2921294"/>
            <a:ext cx="7185215" cy="335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5"/>
              </a:lnSpc>
            </a:pPr>
            <a:r>
              <a:rPr lang="en-US" sz="3682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Content:</a:t>
            </a:r>
          </a:p>
          <a:p>
            <a:pPr algn="ctr">
              <a:lnSpc>
                <a:spcPts val="5155"/>
              </a:lnSpc>
            </a:pPr>
            <a:r>
              <a:rPr lang="en-US" sz="3682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Source: NYC Airbnb Dataset</a:t>
            </a:r>
          </a:p>
          <a:p>
            <a:pPr algn="ctr">
              <a:lnSpc>
                <a:spcPts val="5155"/>
              </a:lnSpc>
            </a:pPr>
            <a:r>
              <a:rPr lang="en-US" sz="3682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 9,999 Listings | 25 Columns</a:t>
            </a:r>
          </a:p>
          <a:p>
            <a:pPr algn="ctr">
              <a:lnSpc>
                <a:spcPts val="5155"/>
              </a:lnSpc>
            </a:pPr>
          </a:p>
          <a:p>
            <a:pPr algn="ctr">
              <a:lnSpc>
                <a:spcPts val="5155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51933"/>
            <a:ext cx="5758435" cy="427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7"/>
              </a:lnSpc>
            </a:pPr>
            <a:r>
              <a:rPr lang="en-US" sz="3383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Variables:</a:t>
            </a:r>
          </a:p>
          <a:p>
            <a:pPr algn="ctr">
              <a:lnSpc>
                <a:spcPts val="4737"/>
              </a:lnSpc>
            </a:pPr>
            <a:r>
              <a:rPr lang="en-US" sz="3383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Price</a:t>
            </a:r>
          </a:p>
          <a:p>
            <a:pPr algn="ctr">
              <a:lnSpc>
                <a:spcPts val="4737"/>
              </a:lnSpc>
            </a:pPr>
            <a:r>
              <a:rPr lang="en-US" sz="3383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Availability (365)</a:t>
            </a:r>
          </a:p>
          <a:p>
            <a:pPr algn="ctr">
              <a:lnSpc>
                <a:spcPts val="4737"/>
              </a:lnSpc>
            </a:pPr>
            <a:r>
              <a:rPr lang="en-US" sz="3383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Room Type</a:t>
            </a:r>
          </a:p>
          <a:p>
            <a:pPr algn="ctr">
              <a:lnSpc>
                <a:spcPts val="4737"/>
              </a:lnSpc>
            </a:pPr>
            <a:r>
              <a:rPr lang="en-US" sz="3383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Neighbourhood</a:t>
            </a:r>
          </a:p>
          <a:p>
            <a:pPr algn="ctr">
              <a:lnSpc>
                <a:spcPts val="4737"/>
              </a:lnSpc>
            </a:pPr>
            <a:r>
              <a:rPr lang="en-US" sz="3383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Ratings</a:t>
            </a:r>
          </a:p>
          <a:p>
            <a:pPr algn="ctr">
              <a:lnSpc>
                <a:spcPts val="473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378352" y="5661458"/>
            <a:ext cx="6565722" cy="240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1"/>
              </a:lnSpc>
            </a:pPr>
            <a:r>
              <a:rPr lang="en-US" sz="3336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Derived Metrics:</a:t>
            </a:r>
          </a:p>
          <a:p>
            <a:pPr algn="ctr">
              <a:lnSpc>
                <a:spcPts val="4671"/>
              </a:lnSpc>
            </a:pPr>
            <a:r>
              <a:rPr lang="en-US" sz="3336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Occupancy Rate</a:t>
            </a:r>
          </a:p>
          <a:p>
            <a:pPr algn="ctr">
              <a:lnSpc>
                <a:spcPts val="4671"/>
              </a:lnSpc>
            </a:pPr>
            <a:r>
              <a:rPr lang="en-US" sz="3336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Estimated Annual Revenue</a:t>
            </a:r>
          </a:p>
          <a:p>
            <a:pPr algn="ctr">
              <a:lnSpc>
                <a:spcPts val="46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50669">
            <a:off x="79162" y="7296141"/>
            <a:ext cx="2159625" cy="3514182"/>
          </a:xfrm>
          <a:custGeom>
            <a:avLst/>
            <a:gdLst/>
            <a:ahLst/>
            <a:cxnLst/>
            <a:rect r="r" b="b" t="t" l="l"/>
            <a:pathLst>
              <a:path h="3514182" w="2159625">
                <a:moveTo>
                  <a:pt x="0" y="0"/>
                </a:moveTo>
                <a:lnTo>
                  <a:pt x="2159625" y="0"/>
                </a:lnTo>
                <a:lnTo>
                  <a:pt x="2159625" y="3514182"/>
                </a:lnTo>
                <a:lnTo>
                  <a:pt x="0" y="3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19924" y="836920"/>
            <a:ext cx="16230600" cy="8216312"/>
            <a:chOff x="0" y="0"/>
            <a:chExt cx="4274726" cy="21639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3967"/>
            </a:xfrm>
            <a:custGeom>
              <a:avLst/>
              <a:gdLst/>
              <a:ahLst/>
              <a:cxnLst/>
              <a:rect r="r" b="b" t="t" l="l"/>
              <a:pathLst>
                <a:path h="21639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1071"/>
                  </a:lnTo>
                  <a:cubicBezTo>
                    <a:pt x="4274726" y="2147144"/>
                    <a:pt x="4272314" y="2152967"/>
                    <a:pt x="4268020" y="2157261"/>
                  </a:cubicBezTo>
                  <a:cubicBezTo>
                    <a:pt x="4263726" y="2161555"/>
                    <a:pt x="4257903" y="2163967"/>
                    <a:pt x="4251830" y="2163967"/>
                  </a:cubicBezTo>
                  <a:lnTo>
                    <a:pt x="22896" y="2163967"/>
                  </a:lnTo>
                  <a:cubicBezTo>
                    <a:pt x="16823" y="2163967"/>
                    <a:pt x="11000" y="2161555"/>
                    <a:pt x="6706" y="2157261"/>
                  </a:cubicBezTo>
                  <a:cubicBezTo>
                    <a:pt x="2412" y="2152967"/>
                    <a:pt x="0" y="2147144"/>
                    <a:pt x="0" y="21410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4274726" cy="228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988815" y="0"/>
            <a:ext cx="2299185" cy="1504921"/>
          </a:xfrm>
          <a:custGeom>
            <a:avLst/>
            <a:gdLst/>
            <a:ahLst/>
            <a:cxnLst/>
            <a:rect r="r" b="b" t="t" l="l"/>
            <a:pathLst>
              <a:path h="1504921" w="2299185">
                <a:moveTo>
                  <a:pt x="0" y="0"/>
                </a:moveTo>
                <a:lnTo>
                  <a:pt x="2299185" y="0"/>
                </a:lnTo>
                <a:lnTo>
                  <a:pt x="2299185" y="1504921"/>
                </a:lnTo>
                <a:lnTo>
                  <a:pt x="0" y="15049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76409" y="1548696"/>
            <a:ext cx="13450702" cy="884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9"/>
              </a:lnSpc>
            </a:pPr>
            <a:r>
              <a:rPr lang="en-US" sz="5163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From Raw Data to Actionable Metrics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8974" y="2722166"/>
            <a:ext cx="10187612" cy="415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7"/>
              </a:lnSpc>
            </a:pPr>
            <a:r>
              <a:rPr lang="en-US" sz="3319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Cleaning:</a:t>
            </a:r>
          </a:p>
          <a:p>
            <a:pPr algn="l">
              <a:lnSpc>
                <a:spcPts val="4647"/>
              </a:lnSpc>
            </a:pPr>
            <a:r>
              <a:rPr lang="en-US" sz="3319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Removed duplicates</a:t>
            </a:r>
          </a:p>
          <a:p>
            <a:pPr algn="l">
              <a:lnSpc>
                <a:spcPts val="4647"/>
              </a:lnSpc>
            </a:pPr>
            <a:r>
              <a:rPr lang="en-US" sz="3319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Standardized pricing format</a:t>
            </a:r>
          </a:p>
          <a:p>
            <a:pPr algn="l">
              <a:lnSpc>
                <a:spcPts val="4647"/>
              </a:lnSpc>
            </a:pPr>
            <a:r>
              <a:rPr lang="en-US" sz="3319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Handled missing ratings</a:t>
            </a:r>
          </a:p>
          <a:p>
            <a:pPr algn="l">
              <a:lnSpc>
                <a:spcPts val="4647"/>
              </a:lnSpc>
            </a:pPr>
            <a:r>
              <a:rPr lang="en-US" sz="3319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Corrected inconsistencies</a:t>
            </a:r>
          </a:p>
          <a:p>
            <a:pPr algn="l">
              <a:lnSpc>
                <a:spcPts val="4647"/>
              </a:lnSpc>
            </a:pPr>
          </a:p>
          <a:p>
            <a:pPr algn="l">
              <a:lnSpc>
                <a:spcPts val="4647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58974" y="6136190"/>
            <a:ext cx="8737010" cy="366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3393" b="tru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Engineered Metrics:</a:t>
            </a:r>
          </a:p>
          <a:p>
            <a:pPr algn="ctr">
              <a:lnSpc>
                <a:spcPts val="4751"/>
              </a:lnSpc>
            </a:pPr>
            <a:r>
              <a:rPr lang="en-US" sz="3393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Occupancy Rate = (365 – Availability) / 365</a:t>
            </a:r>
          </a:p>
          <a:p>
            <a:pPr algn="ctr">
              <a:lnSpc>
                <a:spcPts val="4751"/>
              </a:lnSpc>
            </a:pPr>
            <a:r>
              <a:rPr lang="en-US" sz="3393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 Estimated Revenue = Price × Occupied Days</a:t>
            </a:r>
          </a:p>
          <a:p>
            <a:pPr algn="ctr">
              <a:lnSpc>
                <a:spcPts val="4751"/>
              </a:lnSpc>
            </a:pPr>
          </a:p>
          <a:p>
            <a:pPr algn="ctr">
              <a:lnSpc>
                <a:spcPts val="47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8523" y="1041988"/>
            <a:ext cx="16230600" cy="8216312"/>
            <a:chOff x="0" y="0"/>
            <a:chExt cx="4274726" cy="21639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3967"/>
            </a:xfrm>
            <a:custGeom>
              <a:avLst/>
              <a:gdLst/>
              <a:ahLst/>
              <a:cxnLst/>
              <a:rect r="r" b="b" t="t" l="l"/>
              <a:pathLst>
                <a:path h="21639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1071"/>
                  </a:lnTo>
                  <a:cubicBezTo>
                    <a:pt x="4274726" y="2147144"/>
                    <a:pt x="4272314" y="2152967"/>
                    <a:pt x="4268020" y="2157261"/>
                  </a:cubicBezTo>
                  <a:cubicBezTo>
                    <a:pt x="4263726" y="2161555"/>
                    <a:pt x="4257903" y="2163967"/>
                    <a:pt x="4251830" y="2163967"/>
                  </a:cubicBezTo>
                  <a:lnTo>
                    <a:pt x="22896" y="2163967"/>
                  </a:lnTo>
                  <a:cubicBezTo>
                    <a:pt x="16823" y="2163967"/>
                    <a:pt x="11000" y="2161555"/>
                    <a:pt x="6706" y="2157261"/>
                  </a:cubicBezTo>
                  <a:cubicBezTo>
                    <a:pt x="2412" y="2152967"/>
                    <a:pt x="0" y="2147144"/>
                    <a:pt x="0" y="21410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274726" cy="228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50808" y="0"/>
            <a:ext cx="2537192" cy="1660707"/>
          </a:xfrm>
          <a:custGeom>
            <a:avLst/>
            <a:gdLst/>
            <a:ahLst/>
            <a:cxnLst/>
            <a:rect r="r" b="b" t="t" l="l"/>
            <a:pathLst>
              <a:path h="1660707" w="2537192">
                <a:moveTo>
                  <a:pt x="0" y="0"/>
                </a:moveTo>
                <a:lnTo>
                  <a:pt x="2537192" y="0"/>
                </a:lnTo>
                <a:lnTo>
                  <a:pt x="2537192" y="1660707"/>
                </a:lnTo>
                <a:lnTo>
                  <a:pt x="0" y="1660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8282" y="2719223"/>
            <a:ext cx="3830396" cy="1640638"/>
          </a:xfrm>
          <a:custGeom>
            <a:avLst/>
            <a:gdLst/>
            <a:ahLst/>
            <a:cxnLst/>
            <a:rect r="r" b="b" t="t" l="l"/>
            <a:pathLst>
              <a:path h="1640638" w="3830396">
                <a:moveTo>
                  <a:pt x="0" y="0"/>
                </a:moveTo>
                <a:lnTo>
                  <a:pt x="3830396" y="0"/>
                </a:lnTo>
                <a:lnTo>
                  <a:pt x="3830396" y="1640637"/>
                </a:lnTo>
                <a:lnTo>
                  <a:pt x="0" y="1640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95" t="-3395" r="-12563" b="-13786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58282" y="6344601"/>
            <a:ext cx="3742242" cy="1629276"/>
          </a:xfrm>
          <a:custGeom>
            <a:avLst/>
            <a:gdLst/>
            <a:ahLst/>
            <a:cxnLst/>
            <a:rect r="r" b="b" t="t" l="l"/>
            <a:pathLst>
              <a:path h="1629276" w="3742242">
                <a:moveTo>
                  <a:pt x="0" y="0"/>
                </a:moveTo>
                <a:lnTo>
                  <a:pt x="3742242" y="0"/>
                </a:lnTo>
                <a:lnTo>
                  <a:pt x="3742242" y="1629276"/>
                </a:lnTo>
                <a:lnTo>
                  <a:pt x="0" y="1629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1" t="0" r="-6377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310530" y="3309433"/>
            <a:ext cx="3533297" cy="1439047"/>
          </a:xfrm>
          <a:custGeom>
            <a:avLst/>
            <a:gdLst/>
            <a:ahLst/>
            <a:cxnLst/>
            <a:rect r="r" b="b" t="t" l="l"/>
            <a:pathLst>
              <a:path h="1439047" w="3533297">
                <a:moveTo>
                  <a:pt x="0" y="0"/>
                </a:moveTo>
                <a:lnTo>
                  <a:pt x="3533296" y="0"/>
                </a:lnTo>
                <a:lnTo>
                  <a:pt x="3533296" y="1439047"/>
                </a:lnTo>
                <a:lnTo>
                  <a:pt x="0" y="14390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036" t="-170" r="-9772" b="-17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030950" y="6012519"/>
            <a:ext cx="3830396" cy="1593948"/>
          </a:xfrm>
          <a:custGeom>
            <a:avLst/>
            <a:gdLst/>
            <a:ahLst/>
            <a:cxnLst/>
            <a:rect r="r" b="b" t="t" l="l"/>
            <a:pathLst>
              <a:path h="1593948" w="3830396">
                <a:moveTo>
                  <a:pt x="0" y="0"/>
                </a:moveTo>
                <a:lnTo>
                  <a:pt x="3830396" y="0"/>
                </a:lnTo>
                <a:lnTo>
                  <a:pt x="3830396" y="1593948"/>
                </a:lnTo>
                <a:lnTo>
                  <a:pt x="0" y="15939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129" t="0" r="-15884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865678" y="2719223"/>
            <a:ext cx="3329041" cy="1493646"/>
          </a:xfrm>
          <a:custGeom>
            <a:avLst/>
            <a:gdLst/>
            <a:ahLst/>
            <a:cxnLst/>
            <a:rect r="r" b="b" t="t" l="l"/>
            <a:pathLst>
              <a:path h="1493646" w="3329041">
                <a:moveTo>
                  <a:pt x="0" y="0"/>
                </a:moveTo>
                <a:lnTo>
                  <a:pt x="3329041" y="0"/>
                </a:lnTo>
                <a:lnTo>
                  <a:pt x="3329041" y="1493645"/>
                </a:lnTo>
                <a:lnTo>
                  <a:pt x="0" y="14936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8519" t="0" r="-13238" b="-2600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210000" y="1305165"/>
            <a:ext cx="14299455" cy="118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6"/>
              </a:lnSpc>
              <a:spcBef>
                <a:spcPct val="0"/>
              </a:spcBef>
            </a:pPr>
            <a:r>
              <a:rPr lang="en-US" b="true" sz="594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Defines Listing Performance?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98359" y="7609355"/>
            <a:ext cx="3762987" cy="123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6"/>
              </a:lnSpc>
            </a:pPr>
            <a:r>
              <a:rPr lang="en-US" sz="224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Estimated Annual Revenue </a:t>
            </a:r>
          </a:p>
          <a:p>
            <a:pPr algn="ctr">
              <a:lnSpc>
                <a:spcPts val="3136"/>
              </a:lnSpc>
              <a:spcBef>
                <a:spcPct val="0"/>
              </a:spcBef>
            </a:pPr>
            <a:r>
              <a:rPr lang="en-US" b="true" sz="224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224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to measure earning strength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32776" y="4808567"/>
            <a:ext cx="3622448" cy="13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Occupancy Rate 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to measure demand utilization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6436" y="8078652"/>
            <a:ext cx="3654088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Average Price 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pricing benchmark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5815" y="4419947"/>
            <a:ext cx="345533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Total Listings 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supply concentration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65678" y="4236035"/>
            <a:ext cx="3647878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Average Rating 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2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customer satisfaction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16487" y="6666618"/>
            <a:ext cx="7455026" cy="155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These KPIs directly evaluate revenue strength, demand efficiency, and market positioning.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41988"/>
            <a:ext cx="16230600" cy="8216312"/>
            <a:chOff x="0" y="0"/>
            <a:chExt cx="4274726" cy="21639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967"/>
            </a:xfrm>
            <a:custGeom>
              <a:avLst/>
              <a:gdLst/>
              <a:ahLst/>
              <a:cxnLst/>
              <a:rect r="r" b="b" t="t" l="l"/>
              <a:pathLst>
                <a:path h="21639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1071"/>
                  </a:lnTo>
                  <a:cubicBezTo>
                    <a:pt x="4274726" y="2147144"/>
                    <a:pt x="4272314" y="2152967"/>
                    <a:pt x="4268020" y="2157261"/>
                  </a:cubicBezTo>
                  <a:cubicBezTo>
                    <a:pt x="4263726" y="2161555"/>
                    <a:pt x="4257903" y="2163967"/>
                    <a:pt x="4251830" y="2163967"/>
                  </a:cubicBezTo>
                  <a:lnTo>
                    <a:pt x="22896" y="2163967"/>
                  </a:lnTo>
                  <a:cubicBezTo>
                    <a:pt x="16823" y="2163967"/>
                    <a:pt x="11000" y="2161555"/>
                    <a:pt x="6706" y="2157261"/>
                  </a:cubicBezTo>
                  <a:cubicBezTo>
                    <a:pt x="2412" y="2152967"/>
                    <a:pt x="0" y="2147144"/>
                    <a:pt x="0" y="21410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4274726" cy="228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92712" y="0"/>
            <a:ext cx="2795288" cy="1829643"/>
          </a:xfrm>
          <a:custGeom>
            <a:avLst/>
            <a:gdLst/>
            <a:ahLst/>
            <a:cxnLst/>
            <a:rect r="r" b="b" t="t" l="l"/>
            <a:pathLst>
              <a:path h="1829643" w="2795288">
                <a:moveTo>
                  <a:pt x="0" y="0"/>
                </a:moveTo>
                <a:lnTo>
                  <a:pt x="2795288" y="0"/>
                </a:lnTo>
                <a:lnTo>
                  <a:pt x="2795288" y="1829643"/>
                </a:lnTo>
                <a:lnTo>
                  <a:pt x="0" y="1829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8605" y="3080114"/>
            <a:ext cx="9137354" cy="457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Revenue clusters in </a:t>
            </a:r>
            <a:r>
              <a:rPr lang="en-US" sz="31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Brooklyn neighbourhoods.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Entire homes generate premium revenue.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Occupancy averages </a:t>
            </a:r>
            <a:r>
              <a:rPr lang="en-US" sz="31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~45–50%</a:t>
            </a:r>
            <a:r>
              <a:rPr lang="en-US" sz="31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.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Moderate pricing outperforms extremes.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Ratings remain consistent across categories.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Pricing impacts revenue more than occupancy alone.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705666" y="3086100"/>
            <a:ext cx="4495258" cy="4114800"/>
          </a:xfrm>
          <a:custGeom>
            <a:avLst/>
            <a:gdLst/>
            <a:ahLst/>
            <a:cxnLst/>
            <a:rect r="r" b="b" t="t" l="l"/>
            <a:pathLst>
              <a:path h="4114800" w="4495258">
                <a:moveTo>
                  <a:pt x="0" y="0"/>
                </a:moveTo>
                <a:lnTo>
                  <a:pt x="4495258" y="0"/>
                </a:lnTo>
                <a:lnTo>
                  <a:pt x="44952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65456" y="1049672"/>
            <a:ext cx="10507080" cy="103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0"/>
              </a:lnSpc>
              <a:spcBef>
                <a:spcPct val="0"/>
              </a:spcBef>
            </a:pPr>
            <a:r>
              <a:rPr lang="en-US" b="true" sz="527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Revenue Is Highly Concentrated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190538"/>
            <a:ext cx="16230600" cy="8216312"/>
            <a:chOff x="0" y="0"/>
            <a:chExt cx="4274726" cy="21639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967"/>
            </a:xfrm>
            <a:custGeom>
              <a:avLst/>
              <a:gdLst/>
              <a:ahLst/>
              <a:cxnLst/>
              <a:rect r="r" b="b" t="t" l="l"/>
              <a:pathLst>
                <a:path h="21639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1071"/>
                  </a:lnTo>
                  <a:cubicBezTo>
                    <a:pt x="4274726" y="2147144"/>
                    <a:pt x="4272314" y="2152967"/>
                    <a:pt x="4268020" y="2157261"/>
                  </a:cubicBezTo>
                  <a:cubicBezTo>
                    <a:pt x="4263726" y="2161555"/>
                    <a:pt x="4257903" y="2163967"/>
                    <a:pt x="4251830" y="2163967"/>
                  </a:cubicBezTo>
                  <a:lnTo>
                    <a:pt x="22896" y="2163967"/>
                  </a:lnTo>
                  <a:cubicBezTo>
                    <a:pt x="16823" y="2163967"/>
                    <a:pt x="11000" y="2161555"/>
                    <a:pt x="6706" y="2157261"/>
                  </a:cubicBezTo>
                  <a:cubicBezTo>
                    <a:pt x="2412" y="2152967"/>
                    <a:pt x="0" y="2147144"/>
                    <a:pt x="0" y="21410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4274726" cy="228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78225" y="0"/>
            <a:ext cx="2509775" cy="1642762"/>
          </a:xfrm>
          <a:custGeom>
            <a:avLst/>
            <a:gdLst/>
            <a:ahLst/>
            <a:cxnLst/>
            <a:rect r="r" b="b" t="t" l="l"/>
            <a:pathLst>
              <a:path h="1642762" w="2509775">
                <a:moveTo>
                  <a:pt x="0" y="0"/>
                </a:moveTo>
                <a:lnTo>
                  <a:pt x="2509775" y="0"/>
                </a:lnTo>
                <a:lnTo>
                  <a:pt x="2509775" y="1642762"/>
                </a:lnTo>
                <a:lnTo>
                  <a:pt x="0" y="1642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30733" y="3472816"/>
            <a:ext cx="6524180" cy="3850717"/>
          </a:xfrm>
          <a:custGeom>
            <a:avLst/>
            <a:gdLst/>
            <a:ahLst/>
            <a:cxnLst/>
            <a:rect r="r" b="b" t="t" l="l"/>
            <a:pathLst>
              <a:path h="3850717" w="6524180">
                <a:moveTo>
                  <a:pt x="0" y="0"/>
                </a:moveTo>
                <a:lnTo>
                  <a:pt x="6524180" y="0"/>
                </a:lnTo>
                <a:lnTo>
                  <a:pt x="6524180" y="3850717"/>
                </a:lnTo>
                <a:lnTo>
                  <a:pt x="0" y="3850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12" t="-4490" r="-30924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74950" y="3472816"/>
            <a:ext cx="6531711" cy="3850717"/>
          </a:xfrm>
          <a:custGeom>
            <a:avLst/>
            <a:gdLst/>
            <a:ahLst/>
            <a:cxnLst/>
            <a:rect r="r" b="b" t="t" l="l"/>
            <a:pathLst>
              <a:path h="3850717" w="6531711">
                <a:moveTo>
                  <a:pt x="0" y="0"/>
                </a:moveTo>
                <a:lnTo>
                  <a:pt x="6531711" y="0"/>
                </a:lnTo>
                <a:lnTo>
                  <a:pt x="6531711" y="3850717"/>
                </a:lnTo>
                <a:lnTo>
                  <a:pt x="0" y="38507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75" t="-4007" r="-3675" b="-6234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344224" y="1385587"/>
            <a:ext cx="13310335" cy="202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7"/>
              </a:lnSpc>
              <a:spcBef>
                <a:spcPct val="0"/>
              </a:spcBef>
            </a:pPr>
            <a:r>
              <a:rPr lang="en-US" b="true" sz="541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b="true" sz="541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ricing Drives Revenue More Than Occupancy Alone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396" y="7398060"/>
            <a:ext cx="7688995" cy="160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Entire homes generate significantly higher revenue due to stronger pricing power.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975454" y="7388535"/>
            <a:ext cx="7057659" cy="155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Higher occupancy does not necessarily translate into higher revenue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295" y="1041988"/>
            <a:ext cx="16230600" cy="8216312"/>
            <a:chOff x="0" y="0"/>
            <a:chExt cx="4274726" cy="21639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967"/>
            </a:xfrm>
            <a:custGeom>
              <a:avLst/>
              <a:gdLst/>
              <a:ahLst/>
              <a:cxnLst/>
              <a:rect r="r" b="b" t="t" l="l"/>
              <a:pathLst>
                <a:path h="21639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1071"/>
                  </a:lnTo>
                  <a:cubicBezTo>
                    <a:pt x="4274726" y="2147144"/>
                    <a:pt x="4272314" y="2152967"/>
                    <a:pt x="4268020" y="2157261"/>
                  </a:cubicBezTo>
                  <a:cubicBezTo>
                    <a:pt x="4263726" y="2161555"/>
                    <a:pt x="4257903" y="2163967"/>
                    <a:pt x="4251830" y="2163967"/>
                  </a:cubicBezTo>
                  <a:lnTo>
                    <a:pt x="22896" y="2163967"/>
                  </a:lnTo>
                  <a:cubicBezTo>
                    <a:pt x="16823" y="2163967"/>
                    <a:pt x="11000" y="2161555"/>
                    <a:pt x="6706" y="2157261"/>
                  </a:cubicBezTo>
                  <a:cubicBezTo>
                    <a:pt x="2412" y="2152967"/>
                    <a:pt x="0" y="2147144"/>
                    <a:pt x="0" y="21410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4274726" cy="228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153789" y="0"/>
            <a:ext cx="2134211" cy="1396938"/>
          </a:xfrm>
          <a:custGeom>
            <a:avLst/>
            <a:gdLst/>
            <a:ahLst/>
            <a:cxnLst/>
            <a:rect r="r" b="b" t="t" l="l"/>
            <a:pathLst>
              <a:path h="1396938" w="2134211">
                <a:moveTo>
                  <a:pt x="0" y="0"/>
                </a:moveTo>
                <a:lnTo>
                  <a:pt x="2134211" y="0"/>
                </a:lnTo>
                <a:lnTo>
                  <a:pt x="2134211" y="1396938"/>
                </a:lnTo>
                <a:lnTo>
                  <a:pt x="0" y="1396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0669">
            <a:off x="79162" y="7296141"/>
            <a:ext cx="2159625" cy="3514182"/>
          </a:xfrm>
          <a:custGeom>
            <a:avLst/>
            <a:gdLst/>
            <a:ahLst/>
            <a:cxnLst/>
            <a:rect r="r" b="b" t="t" l="l"/>
            <a:pathLst>
              <a:path h="3514182" w="2159625">
                <a:moveTo>
                  <a:pt x="0" y="0"/>
                </a:moveTo>
                <a:lnTo>
                  <a:pt x="2159625" y="0"/>
                </a:lnTo>
                <a:lnTo>
                  <a:pt x="2159625" y="3514182"/>
                </a:lnTo>
                <a:lnTo>
                  <a:pt x="0" y="3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85360" y="3308924"/>
            <a:ext cx="3067396" cy="4114800"/>
          </a:xfrm>
          <a:custGeom>
            <a:avLst/>
            <a:gdLst/>
            <a:ahLst/>
            <a:cxnLst/>
            <a:rect r="r" b="b" t="t" l="l"/>
            <a:pathLst>
              <a:path h="4114800" w="3067396">
                <a:moveTo>
                  <a:pt x="0" y="0"/>
                </a:moveTo>
                <a:lnTo>
                  <a:pt x="3067396" y="0"/>
                </a:lnTo>
                <a:lnTo>
                  <a:pt x="30673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84262" y="1589842"/>
            <a:ext cx="13310335" cy="107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7"/>
              </a:lnSpc>
              <a:spcBef>
                <a:spcPct val="0"/>
              </a:spcBef>
            </a:pPr>
            <a:r>
              <a:rPr lang="en-US" b="true" sz="5412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From Static Data to Dynamic Decisions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970" y="3457466"/>
            <a:ext cx="10708626" cy="142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2"/>
              </a:lnSpc>
              <a:spcBef>
                <a:spcPct val="0"/>
              </a:spcBef>
            </a:pPr>
            <a:r>
              <a:rPr lang="en-US" sz="4359" i="true">
                <a:solidFill>
                  <a:srgbClr val="000000"/>
                </a:solidFill>
                <a:latin typeface="Agrandir Narrow Italics"/>
                <a:ea typeface="Agrandir Narrow Italics"/>
                <a:cs typeface="Agrandir Narrow Italics"/>
                <a:sym typeface="Agrandir Narrow Italics"/>
              </a:rPr>
              <a:t>Data → Insights → Strategy → Revenue</a:t>
            </a:r>
          </a:p>
          <a:p>
            <a:pPr algn="ctr">
              <a:lnSpc>
                <a:spcPts val="418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22584" y="4577188"/>
            <a:ext cx="9665012" cy="391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2"/>
              </a:lnSpc>
            </a:pP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Identify high-performing neighbourhoods.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Adjust pricing dynamically.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 Monitor occupancy trends.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Act using real-time dashboard analytics.</a:t>
            </a:r>
          </a:p>
          <a:p>
            <a:pPr algn="ctr">
              <a:lnSpc>
                <a:spcPts val="50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41988"/>
            <a:ext cx="16230600" cy="8216312"/>
            <a:chOff x="0" y="0"/>
            <a:chExt cx="4274726" cy="21639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967"/>
            </a:xfrm>
            <a:custGeom>
              <a:avLst/>
              <a:gdLst/>
              <a:ahLst/>
              <a:cxnLst/>
              <a:rect r="r" b="b" t="t" l="l"/>
              <a:pathLst>
                <a:path h="21639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1071"/>
                  </a:lnTo>
                  <a:cubicBezTo>
                    <a:pt x="4274726" y="2147144"/>
                    <a:pt x="4272314" y="2152967"/>
                    <a:pt x="4268020" y="2157261"/>
                  </a:cubicBezTo>
                  <a:cubicBezTo>
                    <a:pt x="4263726" y="2161555"/>
                    <a:pt x="4257903" y="2163967"/>
                    <a:pt x="4251830" y="2163967"/>
                  </a:cubicBezTo>
                  <a:lnTo>
                    <a:pt x="22896" y="2163967"/>
                  </a:lnTo>
                  <a:cubicBezTo>
                    <a:pt x="16823" y="2163967"/>
                    <a:pt x="11000" y="2161555"/>
                    <a:pt x="6706" y="2157261"/>
                  </a:cubicBezTo>
                  <a:cubicBezTo>
                    <a:pt x="2412" y="2152967"/>
                    <a:pt x="0" y="2147144"/>
                    <a:pt x="0" y="21410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4274726" cy="228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64258" y="0"/>
            <a:ext cx="2423742" cy="1586450"/>
          </a:xfrm>
          <a:custGeom>
            <a:avLst/>
            <a:gdLst/>
            <a:ahLst/>
            <a:cxnLst/>
            <a:rect r="r" b="b" t="t" l="l"/>
            <a:pathLst>
              <a:path h="1586450" w="2423742">
                <a:moveTo>
                  <a:pt x="0" y="0"/>
                </a:moveTo>
                <a:lnTo>
                  <a:pt x="2423742" y="0"/>
                </a:lnTo>
                <a:lnTo>
                  <a:pt x="2423742" y="1586450"/>
                </a:lnTo>
                <a:lnTo>
                  <a:pt x="0" y="1586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0669">
            <a:off x="79162" y="7296141"/>
            <a:ext cx="2159625" cy="3514182"/>
          </a:xfrm>
          <a:custGeom>
            <a:avLst/>
            <a:gdLst/>
            <a:ahLst/>
            <a:cxnLst/>
            <a:rect r="r" b="b" t="t" l="l"/>
            <a:pathLst>
              <a:path h="3514182" w="2159625">
                <a:moveTo>
                  <a:pt x="0" y="0"/>
                </a:moveTo>
                <a:lnTo>
                  <a:pt x="2159625" y="0"/>
                </a:lnTo>
                <a:lnTo>
                  <a:pt x="2159625" y="3514182"/>
                </a:lnTo>
                <a:lnTo>
                  <a:pt x="0" y="3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77336" y="3092744"/>
            <a:ext cx="4183253" cy="4114800"/>
          </a:xfrm>
          <a:custGeom>
            <a:avLst/>
            <a:gdLst/>
            <a:ahLst/>
            <a:cxnLst/>
            <a:rect r="r" b="b" t="t" l="l"/>
            <a:pathLst>
              <a:path h="4114800" w="4183253">
                <a:moveTo>
                  <a:pt x="0" y="0"/>
                </a:moveTo>
                <a:lnTo>
                  <a:pt x="4183254" y="0"/>
                </a:lnTo>
                <a:lnTo>
                  <a:pt x="41832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81315" y="1025069"/>
            <a:ext cx="12683977" cy="118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6"/>
              </a:lnSpc>
              <a:spcBef>
                <a:spcPct val="0"/>
              </a:spcBef>
            </a:pPr>
            <a:r>
              <a:rPr lang="en-US" b="true" sz="594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 on Data, Maximize Returns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1722" y="3266722"/>
            <a:ext cx="8946298" cy="3820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3513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Expand in top revenue neighbourhoods</a:t>
            </a:r>
          </a:p>
          <a:p>
            <a:pPr algn="ctr">
              <a:lnSpc>
                <a:spcPts val="4919"/>
              </a:lnSpc>
            </a:pPr>
            <a:r>
              <a:rPr lang="en-US" sz="3513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Implement dynamic pricing strategies</a:t>
            </a:r>
          </a:p>
          <a:p>
            <a:pPr algn="ctr">
              <a:lnSpc>
                <a:spcPts val="4919"/>
              </a:lnSpc>
            </a:pPr>
            <a:r>
              <a:rPr lang="en-US" sz="3513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Improve occupancy in mid-tier areas</a:t>
            </a:r>
          </a:p>
          <a:p>
            <a:pPr algn="ctr">
              <a:lnSpc>
                <a:spcPts val="4919"/>
              </a:lnSpc>
            </a:pPr>
            <a:r>
              <a:rPr lang="en-US" sz="3513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Promote entire home premium positioning</a:t>
            </a:r>
          </a:p>
          <a:p>
            <a:pPr algn="ctr">
              <a:lnSpc>
                <a:spcPts val="4919"/>
              </a:lnSpc>
            </a:pPr>
            <a:r>
              <a:rPr lang="en-US" sz="3513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Enhance listing quality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0150" y="1041988"/>
            <a:ext cx="16230600" cy="8216312"/>
            <a:chOff x="0" y="0"/>
            <a:chExt cx="4274726" cy="21639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967"/>
            </a:xfrm>
            <a:custGeom>
              <a:avLst/>
              <a:gdLst/>
              <a:ahLst/>
              <a:cxnLst/>
              <a:rect r="r" b="b" t="t" l="l"/>
              <a:pathLst>
                <a:path h="21639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1071"/>
                  </a:lnTo>
                  <a:cubicBezTo>
                    <a:pt x="4274726" y="2147144"/>
                    <a:pt x="4272314" y="2152967"/>
                    <a:pt x="4268020" y="2157261"/>
                  </a:cubicBezTo>
                  <a:cubicBezTo>
                    <a:pt x="4263726" y="2161555"/>
                    <a:pt x="4257903" y="2163967"/>
                    <a:pt x="4251830" y="2163967"/>
                  </a:cubicBezTo>
                  <a:lnTo>
                    <a:pt x="22896" y="2163967"/>
                  </a:lnTo>
                  <a:cubicBezTo>
                    <a:pt x="16823" y="2163967"/>
                    <a:pt x="11000" y="2161555"/>
                    <a:pt x="6706" y="2157261"/>
                  </a:cubicBezTo>
                  <a:cubicBezTo>
                    <a:pt x="2412" y="2152967"/>
                    <a:pt x="0" y="2147144"/>
                    <a:pt x="0" y="21410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4274726" cy="228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192378" y="0"/>
            <a:ext cx="2095622" cy="1371680"/>
          </a:xfrm>
          <a:custGeom>
            <a:avLst/>
            <a:gdLst/>
            <a:ahLst/>
            <a:cxnLst/>
            <a:rect r="r" b="b" t="t" l="l"/>
            <a:pathLst>
              <a:path h="1371680" w="2095622">
                <a:moveTo>
                  <a:pt x="0" y="0"/>
                </a:moveTo>
                <a:lnTo>
                  <a:pt x="2095622" y="0"/>
                </a:lnTo>
                <a:lnTo>
                  <a:pt x="2095622" y="1371680"/>
                </a:lnTo>
                <a:lnTo>
                  <a:pt x="0" y="1371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0669">
            <a:off x="79162" y="7296141"/>
            <a:ext cx="2159625" cy="3514182"/>
          </a:xfrm>
          <a:custGeom>
            <a:avLst/>
            <a:gdLst/>
            <a:ahLst/>
            <a:cxnLst/>
            <a:rect r="r" b="b" t="t" l="l"/>
            <a:pathLst>
              <a:path h="3514182" w="2159625">
                <a:moveTo>
                  <a:pt x="0" y="0"/>
                </a:moveTo>
                <a:lnTo>
                  <a:pt x="2159625" y="0"/>
                </a:lnTo>
                <a:lnTo>
                  <a:pt x="2159625" y="3514182"/>
                </a:lnTo>
                <a:lnTo>
                  <a:pt x="0" y="3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24444" y="3864183"/>
            <a:ext cx="4915820" cy="2771294"/>
          </a:xfrm>
          <a:custGeom>
            <a:avLst/>
            <a:gdLst/>
            <a:ahLst/>
            <a:cxnLst/>
            <a:rect r="r" b="b" t="t" l="l"/>
            <a:pathLst>
              <a:path h="2771294" w="4915820">
                <a:moveTo>
                  <a:pt x="0" y="0"/>
                </a:moveTo>
                <a:lnTo>
                  <a:pt x="4915820" y="0"/>
                </a:lnTo>
                <a:lnTo>
                  <a:pt x="4915820" y="2771294"/>
                </a:lnTo>
                <a:lnTo>
                  <a:pt x="0" y="27712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58974" y="3805038"/>
            <a:ext cx="10905284" cy="328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7"/>
              </a:lnSpc>
            </a:pPr>
            <a:r>
              <a:rPr lang="en-US" sz="366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5% occupancy increase → 5% revenue uplift.</a:t>
            </a:r>
          </a:p>
          <a:p>
            <a:pPr algn="ctr">
              <a:lnSpc>
                <a:spcPts val="5137"/>
              </a:lnSpc>
            </a:pPr>
            <a:r>
              <a:rPr lang="en-US" sz="366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8–10% pricing optimization → significant growth.</a:t>
            </a:r>
          </a:p>
          <a:p>
            <a:pPr algn="ctr">
              <a:lnSpc>
                <a:spcPts val="5137"/>
              </a:lnSpc>
            </a:pPr>
            <a:r>
              <a:rPr lang="en-US" sz="366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Reduced idle inventory.</a:t>
            </a:r>
          </a:p>
          <a:p>
            <a:pPr algn="ctr">
              <a:lnSpc>
                <a:spcPts val="5137"/>
              </a:lnSpc>
            </a:pPr>
            <a:r>
              <a:rPr lang="en-US" sz="366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Stronger investment decisions.</a:t>
            </a:r>
          </a:p>
          <a:p>
            <a:pPr algn="ctr">
              <a:lnSpc>
                <a:spcPts val="5137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367262" y="1104980"/>
            <a:ext cx="10962843" cy="214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9"/>
              </a:lnSpc>
              <a:spcBef>
                <a:spcPct val="0"/>
              </a:spcBef>
            </a:pPr>
            <a:r>
              <a:rPr lang="en-US" b="true" sz="5735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Small Optimization, Large Revenue Impact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41988"/>
            <a:ext cx="16230600" cy="8216312"/>
            <a:chOff x="0" y="0"/>
            <a:chExt cx="4274726" cy="21639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3967"/>
            </a:xfrm>
            <a:custGeom>
              <a:avLst/>
              <a:gdLst/>
              <a:ahLst/>
              <a:cxnLst/>
              <a:rect r="r" b="b" t="t" l="l"/>
              <a:pathLst>
                <a:path h="21639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1071"/>
                  </a:lnTo>
                  <a:cubicBezTo>
                    <a:pt x="4274726" y="2147144"/>
                    <a:pt x="4272314" y="2152967"/>
                    <a:pt x="4268020" y="2157261"/>
                  </a:cubicBezTo>
                  <a:cubicBezTo>
                    <a:pt x="4263726" y="2161555"/>
                    <a:pt x="4257903" y="2163967"/>
                    <a:pt x="4251830" y="2163967"/>
                  </a:cubicBezTo>
                  <a:lnTo>
                    <a:pt x="22896" y="2163967"/>
                  </a:lnTo>
                  <a:cubicBezTo>
                    <a:pt x="16823" y="2163967"/>
                    <a:pt x="11000" y="2161555"/>
                    <a:pt x="6706" y="2157261"/>
                  </a:cubicBezTo>
                  <a:cubicBezTo>
                    <a:pt x="2412" y="2152967"/>
                    <a:pt x="0" y="2147144"/>
                    <a:pt x="0" y="21410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4274726" cy="2287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60217" y="0"/>
            <a:ext cx="2327783" cy="1523640"/>
          </a:xfrm>
          <a:custGeom>
            <a:avLst/>
            <a:gdLst/>
            <a:ahLst/>
            <a:cxnLst/>
            <a:rect r="r" b="b" t="t" l="l"/>
            <a:pathLst>
              <a:path h="1523640" w="2327783">
                <a:moveTo>
                  <a:pt x="0" y="0"/>
                </a:moveTo>
                <a:lnTo>
                  <a:pt x="2327783" y="0"/>
                </a:lnTo>
                <a:lnTo>
                  <a:pt x="2327783" y="1523640"/>
                </a:lnTo>
                <a:lnTo>
                  <a:pt x="0" y="1523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50669">
            <a:off x="79162" y="7296141"/>
            <a:ext cx="2159625" cy="3514182"/>
          </a:xfrm>
          <a:custGeom>
            <a:avLst/>
            <a:gdLst/>
            <a:ahLst/>
            <a:cxnLst/>
            <a:rect r="r" b="b" t="t" l="l"/>
            <a:pathLst>
              <a:path h="3514182" w="2159625">
                <a:moveTo>
                  <a:pt x="0" y="0"/>
                </a:moveTo>
                <a:lnTo>
                  <a:pt x="2159625" y="0"/>
                </a:lnTo>
                <a:lnTo>
                  <a:pt x="2159625" y="3514182"/>
                </a:lnTo>
                <a:lnTo>
                  <a:pt x="0" y="3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73734" y="2931488"/>
            <a:ext cx="4985566" cy="3676539"/>
          </a:xfrm>
          <a:custGeom>
            <a:avLst/>
            <a:gdLst/>
            <a:ahLst/>
            <a:cxnLst/>
            <a:rect r="r" b="b" t="t" l="l"/>
            <a:pathLst>
              <a:path h="3676539" w="4985566">
                <a:moveTo>
                  <a:pt x="0" y="0"/>
                </a:moveTo>
                <a:lnTo>
                  <a:pt x="4985566" y="0"/>
                </a:lnTo>
                <a:lnTo>
                  <a:pt x="4985566" y="3676539"/>
                </a:lnTo>
                <a:lnTo>
                  <a:pt x="0" y="36765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92846" y="3274720"/>
            <a:ext cx="2760911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better yo</a:t>
            </a:r>
            <a:r>
              <a:rPr lang="en-US" sz="1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 know your customer, the better you can help.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92313" y="1304565"/>
            <a:ext cx="13303374" cy="92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We Know — And What We Can Improve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3977" y="2562997"/>
            <a:ext cx="4691686" cy="388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3"/>
              </a:lnSpc>
            </a:pPr>
            <a:r>
              <a:rPr lang="en-US" sz="648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Limitations:</a:t>
            </a:r>
          </a:p>
          <a:p>
            <a:pPr algn="ctr">
              <a:lnSpc>
                <a:spcPts val="5448"/>
              </a:lnSpc>
            </a:pPr>
            <a:r>
              <a:rPr lang="en-US" sz="389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Estimated revenue</a:t>
            </a:r>
          </a:p>
          <a:p>
            <a:pPr algn="ctr">
              <a:lnSpc>
                <a:spcPts val="5448"/>
              </a:lnSpc>
            </a:pPr>
            <a:r>
              <a:rPr lang="en-US" sz="389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No seasonal data</a:t>
            </a:r>
          </a:p>
          <a:p>
            <a:pPr algn="ctr">
              <a:lnSpc>
                <a:spcPts val="5448"/>
              </a:lnSpc>
            </a:pPr>
            <a:r>
              <a:rPr lang="en-US" sz="389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Static dataset</a:t>
            </a:r>
          </a:p>
          <a:p>
            <a:pPr algn="ctr">
              <a:lnSpc>
                <a:spcPts val="3966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981806" y="4109745"/>
            <a:ext cx="5291928" cy="416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4"/>
              </a:lnSpc>
            </a:pPr>
            <a:r>
              <a:rPr lang="en-US" sz="5681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Next Steps:</a:t>
            </a:r>
          </a:p>
          <a:p>
            <a:pPr algn="l">
              <a:lnSpc>
                <a:spcPts val="4733"/>
              </a:lnSpc>
            </a:pPr>
            <a:r>
              <a:rPr lang="en-US" sz="338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Predictive pricing model</a:t>
            </a:r>
          </a:p>
          <a:p>
            <a:pPr algn="l">
              <a:lnSpc>
                <a:spcPts val="4733"/>
              </a:lnSpc>
            </a:pPr>
            <a:r>
              <a:rPr lang="en-US" sz="338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Seasonal forecasting</a:t>
            </a:r>
          </a:p>
          <a:p>
            <a:pPr algn="l">
              <a:lnSpc>
                <a:spcPts val="4733"/>
              </a:lnSpc>
            </a:pPr>
            <a:r>
              <a:rPr lang="en-US" sz="338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ML revenue modeling</a:t>
            </a:r>
          </a:p>
          <a:p>
            <a:pPr algn="l">
              <a:lnSpc>
                <a:spcPts val="4733"/>
              </a:lnSpc>
            </a:pPr>
            <a:r>
              <a:rPr lang="en-US" sz="338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Review sentiment analysis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421" r="0" b="-544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43321" y="0"/>
            <a:ext cx="1844679" cy="1207426"/>
          </a:xfrm>
          <a:custGeom>
            <a:avLst/>
            <a:gdLst/>
            <a:ahLst/>
            <a:cxnLst/>
            <a:rect r="r" b="b" t="t" l="l"/>
            <a:pathLst>
              <a:path h="1207426" w="1844679">
                <a:moveTo>
                  <a:pt x="0" y="0"/>
                </a:moveTo>
                <a:lnTo>
                  <a:pt x="1844679" y="0"/>
                </a:lnTo>
                <a:lnTo>
                  <a:pt x="1844679" y="1207426"/>
                </a:lnTo>
                <a:lnTo>
                  <a:pt x="0" y="1207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50669">
            <a:off x="79162" y="7296141"/>
            <a:ext cx="2159625" cy="3514182"/>
          </a:xfrm>
          <a:custGeom>
            <a:avLst/>
            <a:gdLst/>
            <a:ahLst/>
            <a:cxnLst/>
            <a:rect r="r" b="b" t="t" l="l"/>
            <a:pathLst>
              <a:path h="3514182" w="2159625">
                <a:moveTo>
                  <a:pt x="0" y="0"/>
                </a:moveTo>
                <a:lnTo>
                  <a:pt x="2159625" y="0"/>
                </a:lnTo>
                <a:lnTo>
                  <a:pt x="2159625" y="3514182"/>
                </a:lnTo>
                <a:lnTo>
                  <a:pt x="0" y="3514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87300" y="3338007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92846" y="3274720"/>
            <a:ext cx="2760911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better yo</a:t>
            </a:r>
            <a:r>
              <a:rPr lang="en-US" sz="19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 know your customer, the better you can help.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5405" y="1041905"/>
            <a:ext cx="12647587" cy="119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  <a:spcBef>
                <a:spcPct val="0"/>
              </a:spcBef>
            </a:pPr>
            <a:r>
              <a:rPr lang="en-US" b="true" sz="5998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Data-Driven Hosting Is the Future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8612" y="3860346"/>
            <a:ext cx="11646969" cy="287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4"/>
              </a:lnSpc>
            </a:pPr>
            <a:r>
              <a:rPr lang="en-US" sz="393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Location strategy and pricing optimization are the primary drivers of Airbnb performance.</a:t>
            </a:r>
          </a:p>
          <a:p>
            <a:pPr algn="ctr">
              <a:lnSpc>
                <a:spcPts val="5504"/>
              </a:lnSpc>
              <a:spcBef>
                <a:spcPct val="0"/>
              </a:spcBef>
            </a:pPr>
            <a:r>
              <a:rPr lang="en-US" sz="393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Interactive dashboards enable smarter hosting decisions.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5895" y="967713"/>
            <a:ext cx="16583405" cy="8290587"/>
            <a:chOff x="0" y="0"/>
            <a:chExt cx="4367646" cy="21835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67646" cy="2183529"/>
            </a:xfrm>
            <a:custGeom>
              <a:avLst/>
              <a:gdLst/>
              <a:ahLst/>
              <a:cxnLst/>
              <a:rect r="r" b="b" t="t" l="l"/>
              <a:pathLst>
                <a:path h="2183529" w="4367646">
                  <a:moveTo>
                    <a:pt x="22409" y="0"/>
                  </a:moveTo>
                  <a:lnTo>
                    <a:pt x="4345237" y="0"/>
                  </a:lnTo>
                  <a:cubicBezTo>
                    <a:pt x="4357613" y="0"/>
                    <a:pt x="4367646" y="10033"/>
                    <a:pt x="4367646" y="22409"/>
                  </a:cubicBezTo>
                  <a:lnTo>
                    <a:pt x="4367646" y="2161120"/>
                  </a:lnTo>
                  <a:cubicBezTo>
                    <a:pt x="4367646" y="2167064"/>
                    <a:pt x="4365285" y="2172763"/>
                    <a:pt x="4361083" y="2176966"/>
                  </a:cubicBezTo>
                  <a:cubicBezTo>
                    <a:pt x="4356880" y="2181168"/>
                    <a:pt x="4351180" y="2183529"/>
                    <a:pt x="4345237" y="2183529"/>
                  </a:cubicBezTo>
                  <a:lnTo>
                    <a:pt x="22409" y="2183529"/>
                  </a:lnTo>
                  <a:cubicBezTo>
                    <a:pt x="16466" y="2183529"/>
                    <a:pt x="10766" y="2181168"/>
                    <a:pt x="6563" y="2176966"/>
                  </a:cubicBezTo>
                  <a:cubicBezTo>
                    <a:pt x="2361" y="2172763"/>
                    <a:pt x="0" y="2167064"/>
                    <a:pt x="0" y="2161120"/>
                  </a:cubicBezTo>
                  <a:lnTo>
                    <a:pt x="0" y="22409"/>
                  </a:lnTo>
                  <a:cubicBezTo>
                    <a:pt x="0" y="16466"/>
                    <a:pt x="2361" y="10766"/>
                    <a:pt x="6563" y="6563"/>
                  </a:cubicBezTo>
                  <a:cubicBezTo>
                    <a:pt x="10766" y="2361"/>
                    <a:pt x="16466" y="0"/>
                    <a:pt x="22409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dash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4367646" cy="2307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DAHBm2HMl0Q</dc:identifier>
  <dcterms:modified xsi:type="dcterms:W3CDTF">2011-08-01T06:04:30Z</dcterms:modified>
  <cp:revision>1</cp:revision>
  <dc:title>DVA CAPSTONE</dc:title>
</cp:coreProperties>
</file>